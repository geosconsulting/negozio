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"/>
            <a:ext cx="3200400" cy="3200400"/>
          </a:xfrm>
          <a:prstGeom prst="ellipse">
            <a:avLst/>
          </a:prstGeom>
          <a:solidFill>
            <a:srgbClr val="A0522D">
              <a:alpha val="25000"/>
            </a:srgbClr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640080"/>
            <a:ext cx="2468880" cy="2468880"/>
          </a:xfrm>
          <a:prstGeom prst="ellipse">
            <a:avLst/>
          </a:prstGeom>
          <a:solidFill>
            <a:srgbClr val="C8860A">
              <a:alpha val="18000"/>
            </a:srgbClr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09728" cy="292608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2926080" cy="347472"/>
          </a:xfrm>
          <a:prstGeom prst="rect">
            <a:avLst/>
          </a:prstGeom>
          <a:solidFill>
            <a:srgbClr val="A0522D">
              <a:alpha val="60000"/>
            </a:srgbClr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8D5B7"/>
                </a:solidFill>
              </a:rPr>
              <a:t>GUIDA PRATICA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Economica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Negozio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8D5B7"/>
                </a:solidFill>
              </a:rPr>
              <a:t>Capire margini, ricarico, IVA e prezzi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E8D5B7"/>
                </a:solidFill>
              </a:rPr>
              <a:t>per vendere bene le tue capsule e il caffè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A0E"/>
                </a:solidFill>
              </a:rPr>
              <a:t>☕  Concetti chiari · Calcoli corretti · Decisioni migliori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</a:rPr>
              <a:t>I NUMERI CHE CONTANO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C44"/>
                </a:solidFill>
              </a:rPr>
              <a:t>Ogni prezzo che metti sul tuo scaffale nasce da 4 concetti fondamentali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011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COSTO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Quanto PAGHI al fornitore.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Base di tutto.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325880"/>
            <a:ext cx="2011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MARGINE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Quanto guadagni su ogni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euro incassato.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25880"/>
            <a:ext cx="2011680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RICARICO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🔼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Di quanto hai alzato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il prezzo rispetto al costo.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1325880"/>
            <a:ext cx="20116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325880"/>
            <a:ext cx="201168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2606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Non è tua: la incassi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e la dai allo Stato.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95728" y="256032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60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44568" y="256032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60A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3408" y="256032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60A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E8D5B7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</a:rPr>
              <a:t>💡  Regola d'oro: IVA e profitto non si mescolano — calcola sempre i tuoi prezzi sul costo NETTO (senza IVA)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MARGINE vs RICARICO — NON SONO LA STESSA COSA!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solidFill>
            <a:srgbClr val="C8860A">
              <a:alpha val="20000"/>
            </a:srgbClr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1F"/>
                </a:solidFill>
              </a:rPr>
              <a:t>📦  Esempio: compri capsule a 4€ e le vendi a 6€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A05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3931920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🔼  RICARICO (Markup)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</a:rPr>
              <a:t>Si calcola sul </a:t>
            </a:r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</a:rPr>
              <a:t>COSTO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5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5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(6 - 4) / 4 × 100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3657600" cy="594360"/>
          </a:xfrm>
          <a:prstGeom prst="rect">
            <a:avLst/>
          </a:prstGeom>
          <a:solidFill>
            <a:srgbClr val="A0522D">
              <a:alpha val="85000"/>
            </a:srgbClr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0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= 50%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5C44"/>
                </a:solidFill>
              </a:rPr>
              <a:t>Risposta: «Ho alzato il prezzo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5C44"/>
                </a:solidFill>
              </a:rPr>
              <a:t>del 50% rispetto a quanto ho pagato»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463040"/>
            <a:ext cx="3931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MARGINE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</a:rPr>
              <a:t>Si calcola sul </a:t>
            </a:r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PREZZO DI VENDITA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5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5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(6 - 4) / 6 × 100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090672"/>
            <a:ext cx="3657600" cy="594360"/>
          </a:xfrm>
          <a:prstGeom prst="rect">
            <a:avLst/>
          </a:prstGeom>
          <a:solidFill>
            <a:srgbClr val="2E7D32">
              <a:alpha val="9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90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= 33,3%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5C44"/>
                </a:solidFill>
              </a:rPr>
              <a:t>Risposta: «Su ogni euro incassato,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5C44"/>
                </a:solidFill>
              </a:rPr>
              <a:t>33 centesimi sono profitto»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solidFill>
            <a:srgbClr val="C62828">
              <a:alpha val="15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⚠️  Stesso prodotto, stesso guadagno — ma 50% ≠ 33,3%! Il margine è il dato più onesto: usa sempre quello.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C8860A"/>
                </a:solidFill>
              </a:rPr>
              <a:t>COME CALCOLARE IL PREZZO GIUSTO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7"/>
                </a:solidFill>
              </a:rPr>
              <a:t>Hai un costo e vuoi un certo margine? Ecco la sequenza corretta — in 3 passi.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06040" cy="347472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A052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143000"/>
            <a:ext cx="594360" cy="59436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522D"/>
                </a:solidFill>
              </a:rPr>
              <a:t>Parti dal Costo Netto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hai PAGATO al fornitore,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esclusa.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lotto da 400€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capsule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Costo unitario = 4,00€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06040" cy="347472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C886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143000"/>
            <a:ext cx="594360" cy="594360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860A"/>
                </a:solidFill>
              </a:rPr>
              <a:t>Applica il Margine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netto = Costo ÷ (1 − margine)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margine 30%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4,00 ÷ 0,70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PV netto = 5,71€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347472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143000"/>
            <a:ext cx="594360" cy="594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Aggiungi l'IVA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L'IVA si aggiunge DOPO,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prezzo di vendita netto.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IVA 22%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5,71 × 1,22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Prezzo al cliente = 6,97€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A0E"/>
                </a:solidFill>
              </a:rPr>
              <a:t>✅  Risultato: costi 4,00€ · vendi 6,97€ · guadagni 1,71€ netti · margine REALE confermato al 30%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8860A"/>
                </a:solidFill>
              </a:rPr>
              <a:t>IVA — I SOLDI CHE NON SONO TUOI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377440" cy="2194560"/>
          </a:xfrm>
          <a:prstGeom prst="rect">
            <a:avLst/>
          </a:prstGeom>
          <a:solidFill>
            <a:srgbClr val="1565C0">
              <a:alpha val="90000"/>
            </a:srgbClr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6,97€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paga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61488" y="1463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2B1F"/>
                </a:solidFill>
              </a:rPr>
              <a:t>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017520" y="914400"/>
            <a:ext cx="2377440" cy="2194560"/>
          </a:xfrm>
          <a:prstGeom prst="rect">
            <a:avLst/>
          </a:prstGeom>
          <a:solidFill>
            <a:srgbClr val="C62828">
              <a:alpha val="90000"/>
            </a:srgbClr>
          </a:solidFill>
          <a:ln w="254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005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1,26€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1752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IVA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(allo Stato)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13248" y="1463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2B1F"/>
                </a:solidFill>
              </a:rPr>
              <a:t>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669280" y="914400"/>
            <a:ext cx="2377440" cy="2194560"/>
          </a:xfrm>
          <a:prstGeom prst="rect">
            <a:avLst/>
          </a:prstGeom>
          <a:solidFill>
            <a:srgbClr val="2E7D32">
              <a:alpha val="90000"/>
            </a:srgbClr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005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5,71€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 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rimane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2B1F"/>
                </a:solidFill>
              </a:rPr>
              <a:t>📌  L'IVA sulle capsule è al 10%  ·  sul caffè sfuso può essere al 10% o 22% secondo il tipo
</a:t>
            </a:r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</a:rPr>
              <a:t>📌  Quando compri dal fornitore paghi IVA: la puoi detrarre dalla dichiarazione (IVA a credito)
</a:t>
            </a:r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</a:rPr>
              <a:t>📌  Quando vendi al cliente incassi IVA: la versi allo Stato (IVA a debito)
</a:t>
            </a:r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</a:rPr>
              <a:t>📌  Il tuo guadagno reale si calcola sempre sul prezzo NETTO — mai sul lordo con IVA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D5B7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B1F"/>
                </a:solidFill>
              </a:rPr>
              <a:t>☕  Pratico: se un cliente ti paga 6,97€, non pensare di aver guadagnato 2,97€ — prima togli 1,26€ di IVA!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PROFITTO LORDO vs PROFITTO NETTO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C44"/>
                </a:solidFill>
              </a:rPr>
              <a:t>Da 6,97€ che incassi, cosa rimane davvero?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0" cy="438912"/>
          </a:xfrm>
          <a:prstGeom prst="rect">
            <a:avLst/>
          </a:prstGeom>
          <a:solidFill>
            <a:srgbClr val="E8D5B7">
              <a:alpha val="40000"/>
            </a:srgbClr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Prezzo incassato (lordo IVA)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430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6,97€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5029200" cy="438912"/>
          </a:xfrm>
          <a:prstGeom prst="rect">
            <a:avLst/>
          </a:prstGeom>
          <a:solidFill>
            <a:srgbClr val="E8D5B7">
              <a:alpha val="40000"/>
            </a:srgbClr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− IVA 22%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6184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−1,26€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093976"/>
            <a:ext cx="5029200" cy="438912"/>
          </a:xfrm>
          <a:prstGeom prst="rect">
            <a:avLst/>
          </a:prstGeom>
          <a:solidFill>
            <a:srgbClr val="C8860A">
              <a:alpha val="80000"/>
            </a:srgbClr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939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</a:rPr>
              <a:t>= PV netto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0939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0522D"/>
                </a:solidFill>
              </a:rPr>
              <a:t>5,71€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5029200" cy="438912"/>
          </a:xfrm>
          <a:prstGeom prst="rect">
            <a:avLst/>
          </a:prstGeom>
          <a:solidFill>
            <a:srgbClr val="E8D5B7">
              <a:alpha val="40000"/>
            </a:srgbClr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694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− Costo merce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5694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A5C44"/>
                </a:solidFill>
              </a:rPr>
              <a:t>−4,00€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5029200" cy="438912"/>
          </a:xfrm>
          <a:prstGeom prst="rect">
            <a:avLst/>
          </a:prstGeom>
          <a:solidFill>
            <a:srgbClr val="C8860A">
              <a:alpha val="80000"/>
            </a:srgbClr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</a:rPr>
              <a:t>= Profitto LORDO (per unità)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0449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1,71€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5029200" cy="438912"/>
          </a:xfrm>
          <a:prstGeom prst="rect">
            <a:avLst/>
          </a:prstGeom>
          <a:solidFill>
            <a:srgbClr val="E8D5B7">
              <a:alpha val="40000"/>
            </a:srgbClr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20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− Spese fisse (affitto, luce…)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35204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− 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5029200" cy="438912"/>
          </a:xfrm>
          <a:prstGeom prst="rect">
            <a:avLst/>
          </a:prstGeom>
          <a:solidFill>
            <a:srgbClr val="C8860A">
              <a:alpha val="80000"/>
            </a:srgbClr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959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</a:rPr>
              <a:t>= Profitto NETTO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39959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~?€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0" y="1143000"/>
            <a:ext cx="310896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60720" y="1207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📖  Glossario rapido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1627632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522D"/>
                </a:solidFill>
              </a:rPr>
              <a:t>Profitto Lordo
</a:t>
            </a:r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</a:rPr>
              <a:t>Guadagno prima delle spese fisse del negozio (affitto, luce, personale)
</a:t>
            </a:r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Profitto Netto
</a:t>
            </a:r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</a:rPr>
              <a:t>Quello che ti rimane dopo TUTTO: spese fisse, tasse, contributi
</a:t>
            </a:r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Spese Fisse
</a:t>
            </a:r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</a:rPr>
              <a:t>Costi che hai ogni mese a prescindere da quante capsule vendi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</a:rPr>
              <a:t>✅  Il profitto netto è l'unico numero che conta davvero per capire se il negozio guadagna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C8860A"/>
                </a:solidFill>
              </a:rPr>
              <a:t>PUNTO DI PAREGGIO (Break-even)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5B7"/>
                </a:solidFill>
              </a:rPr>
              <a:t>Quante capsule devi vendere ogni mese solo per coprire le spese?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C88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8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 di pareggio  =  Spese fisse mensili  ÷  Profitto lordo per unità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0" cy="224028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0A"/>
                </a:solidFill>
              </a:rPr>
              <a:t>📦  Esempio pratico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Spese fisse mensili: </a:t>
            </a:r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</a:rPr>
              <a:t>1.200€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Costo: 4,00€  PV netto: 5,71€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Profitto lordo/unità: </a:t>
            </a:r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1,71€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1.200 ÷ 1,71 = </a:t>
            </a:r>
            <a:pPr indent="0" marL="0">
              <a:buNone/>
            </a:pPr>
            <a:r>
              <a:rPr lang="en-US" sz="1900" b="1" dirty="0">
                <a:solidFill>
                  <a:srgbClr val="C8860A"/>
                </a:solidFill>
              </a:rPr>
              <a:t>~702 capsule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331720"/>
            <a:ext cx="4023360" cy="224028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0A"/>
                </a:solidFill>
              </a:rPr>
              <a:t>🎯  Come leggerlo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Sotto 702 capsule/mese → sei in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PERDITA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Sopra 702 capsule/mese → sei in </a:t>
            </a:r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GUADAGNO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Copri solo le spese → sei al </a:t>
            </a:r>
            <a:pPr indent="0" marL="0">
              <a:buNone/>
            </a:pPr>
            <a:r>
              <a:rPr lang="en-US" sz="1300" b="1" dirty="0">
                <a:solidFill>
                  <a:srgbClr val="C8860A"/>
                </a:solidFill>
              </a:rPr>
              <a:t>PAREGGIO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A0E"/>
                </a:solidFill>
              </a:rPr>
              <a:t>💡  Calcola il tuo break-even ogni mese: ti dice subito se stai andando bene o devi vendere di più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ROTAZIONE DEL MAGAZZINO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C44"/>
                </a:solidFill>
              </a:rPr>
              <a:t>Quante volte svuoti e riempi il magazzino in un anno?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85800"/>
          </a:xfrm>
          <a:prstGeom prst="rect">
            <a:avLst/>
          </a:prstGeom>
          <a:solidFill>
            <a:srgbClr val="E8D5B7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Rotazione  =  Vendite annue (€)  ÷  Stock medio (€)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331720"/>
          </a:xfrm>
          <a:prstGeom prst="rect">
            <a:avLst/>
          </a:prstGeom>
          <a:solidFill>
            <a:srgbClr val="C62828">
              <a:alpha val="85000"/>
            </a:srgbClr>
          </a:solidFill>
          <a:ln w="254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48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Bassa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 4×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Capsule scadute,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soldi immobilizzati,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prodotto obsoleto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2651760" cy="2331720"/>
          </a:xfrm>
          <a:prstGeom prst="rect">
            <a:avLst/>
          </a:prstGeom>
          <a:solidFill>
            <a:srgbClr val="C8860A">
              <a:alpha val="85000"/>
            </a:srgbClr>
          </a:solidFill>
          <a:ln w="25400">
            <a:solidFill>
              <a:srgbClr val="C8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148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Media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6–12×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9718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Normale per 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negozio di vicinato.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Migliorabile.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057400"/>
            <a:ext cx="2651760" cy="2331720"/>
          </a:xfrm>
          <a:prstGeom prst="rect">
            <a:avLst/>
          </a:prstGeom>
          <a:solidFill>
            <a:srgbClr val="2E7D32">
              <a:alpha val="85000"/>
            </a:srgbClr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148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&gt; 15×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Ottima! Ordini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frequenti, prodotto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sempre fresco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462272"/>
            <a:ext cx="8412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5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62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522D"/>
                </a:solidFill>
              </a:rPr>
              <a:t>Esempio: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vendi 12.000€ di capsule all'anno, tieni in magazzino mediamente 1.000€ di stock → Rotazione = 12×
</a:t>
            </a:r>
            <a:pPr indent="0" marL="0">
              <a:buNone/>
            </a:pPr>
            <a:r>
              <a:rPr lang="en-US" sz="1100" i="1" dirty="0">
                <a:solidFill>
                  <a:srgbClr val="7A5C44"/>
                </a:solidFill>
              </a:rPr>
              <a:t>→ Ogni mese e mezzo svuoti completamente il magazzino: è un ottimo risultato per il caffè! 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ELASTICITÀ — COSA SUCCEDE SE ALZI IL PREZZO?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44"/>
                </a:solidFill>
              </a:rPr>
              <a:t>L'elasticità misura quanto cambiano le tue vendite quando cambi il prezzo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2E7D32">
              <a:alpha val="12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😊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143000" y="1280160"/>
            <a:ext cx="1645920" cy="914400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</a:rPr>
              <a:t>da 0 a −0.5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POCO SENSIBILE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Puoi alzare il prezzo senza perdere molti clienti. Il prodotto è apprezzato o non ha alternativa vicina.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8412480" cy="1005840"/>
          </a:xfrm>
          <a:prstGeom prst="rect">
            <a:avLst/>
          </a:prstGeom>
          <a:solidFill>
            <a:srgbClr val="C8860A">
              <a:alpha val="12000"/>
            </a:srgbClr>
          </a:solidFill>
          <a:ln w="19050">
            <a:solidFill>
              <a:srgbClr val="C88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😐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143000" y="2468880"/>
            <a:ext cx="1645920" cy="914400"/>
          </a:xfrm>
          <a:prstGeom prst="rect">
            <a:avLst/>
          </a:prstGeom>
          <a:solidFill>
            <a:srgbClr val="C8860A">
              <a:alpha val="70000"/>
            </a:srgbClr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</a:rPr>
              <a:t>da −0.5 a −1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SENSIBILE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4231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Equilibrio delicato. Ogni aumento di prezzo porta una perdita proporzionale di vendite.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005840"/>
          </a:xfrm>
          <a:prstGeom prst="rect">
            <a:avLst/>
          </a:prstGeom>
          <a:solidFill>
            <a:srgbClr val="C62828">
              <a:alpha val="12000"/>
            </a:srgbClr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😟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143000" y="3657600"/>
            <a:ext cx="1645920" cy="914400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</a:rPr>
              <a:t>oltre −1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MOLTO SENSIBILE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6118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</a:rPr>
              <a:t>Alzare il prezzo può farti guadagnare meno, perché perdi troppi clienti. Attenzione!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D5B7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B1F"/>
                </a:solidFill>
              </a:rPr>
              <a:t>☕  Per calcolarlo ti servono 2 dati storici: prezzo e quantità venduta in due periodi diversi — il tuo codice lo fa automaticamente!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8860A"/>
                </a:solidFill>
              </a:rPr>
              <a:t>PRONTUARIO FORMULE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7"/>
                </a:solidFill>
              </a:rPr>
              <a:t>Tienilo vicino al registratore di cassa!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0972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Margine 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36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(PV netto − Costo) ÷ PV netto ×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A052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4560"/>
            <a:ext cx="109728" cy="8229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31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522D"/>
                </a:solidFill>
              </a:rPr>
              <a:t>Ricarico 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(PV netto − Costo) ÷ Costo × 100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86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54680"/>
            <a:ext cx="109728" cy="82296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91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60A"/>
                </a:solidFill>
              </a:rPr>
              <a:t>Prezzo di vendita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5570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 ÷ (1 − margine%)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114800"/>
            <a:ext cx="10972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151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Scorporo IVA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517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Prezzo lordo ÷ (1 + IVA%)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A052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234440"/>
            <a:ext cx="109728" cy="8229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271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522D"/>
                </a:solidFill>
              </a:rPr>
              <a:t>Ricarico → Margine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1636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Margine = Ricarico ÷ (100 + Ricarico) × 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8D5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94560"/>
            <a:ext cx="109728" cy="822960"/>
          </a:xfrm>
          <a:prstGeom prst="rect">
            <a:avLst/>
          </a:prstGeom>
          <a:solidFill>
            <a:srgbClr val="E8D5B7"/>
          </a:solidFill>
          <a:ln w="12700">
            <a:solidFill>
              <a:srgbClr val="E8D5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231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5B7"/>
                </a:solidFill>
              </a:rPr>
              <a:t>Rotazione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25968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Vendite annue € ÷ Stock medio 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416052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154680"/>
            <a:ext cx="109728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191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Punto di pareggio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35570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Spese fisse ÷ Profitto lordo per unità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A0522D">
              <a:alpha val="20000"/>
            </a:srgbClr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1188720"/>
            <a:ext cx="1828800" cy="1828800"/>
          </a:xfrm>
          <a:prstGeom prst="ellipse">
            <a:avLst/>
          </a:prstGeom>
          <a:solidFill>
            <a:srgbClr val="C8860A">
              <a:alpha val="25000"/>
            </a:srgbClr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☕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 conosci i tuoi numeri.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spc="100" kern="0" dirty="0">
                <a:solidFill>
                  <a:srgbClr val="E8D5B7"/>
                </a:solidFill>
              </a:rPr>
              <a:t>Margine corretto · Prezzi giusti · Profitto reale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4160520"/>
            <a:ext cx="4572000" cy="50292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A0E"/>
                </a:solidFill>
              </a:rPr>
              <a:t>Buone vendite! 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Gestione Economica del Negozio</dc:title>
  <dc:subject>PptxGenJS Presentation</dc:subject>
  <dc:creator>PptxGenJS</dc:creator>
  <cp:lastModifiedBy>PptxGenJS</cp:lastModifiedBy>
  <cp:revision>1</cp:revision>
  <dcterms:created xsi:type="dcterms:W3CDTF">2026-02-18T15:44:05Z</dcterms:created>
  <dcterms:modified xsi:type="dcterms:W3CDTF">2026-02-18T15:44:05Z</dcterms:modified>
</cp:coreProperties>
</file>